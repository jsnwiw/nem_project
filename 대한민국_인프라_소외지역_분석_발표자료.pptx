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645920"/>
            <a:ext cx="3840480" cy="411480"/>
          </a:xfrm>
          <a:prstGeom prst="roundRect">
            <a:avLst/>
          </a:prstGeom>
          <a:solidFill>
            <a:srgbClr val="1E3A8A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EA5E9"/>
                </a:solidFill>
              </a:defRPr>
            </a:pPr>
            <a:r>
              <a:t>🛰️ 초고화질 위성 Web GIS &amp; AI 음성 시연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대한민국 인프라 소외지역</a:t>
            </a:r>
            <a:br/>
            <a:r>
              <a:t>실시간 정밀 분석 지도</a:t>
            </a:r>
          </a:p>
          <a:p>
            <a:pPr>
              <a:spcBef>
                <a:spcPts val="1800"/>
              </a:spcBef>
              <a:defRPr sz="1700">
                <a:solidFill>
                  <a:srgbClr val="94A3B8"/>
                </a:solidFill>
              </a:defRPr>
            </a:pPr>
            <a:r>
              <a:t>전국 229개 전 지자체 13대 핵심 인프라 결핍 진단 및 Typecast TTS 자동화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663440"/>
            <a:ext cx="32918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📍 전국 229개소 전수 진단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17개 광역시도 및 주요 도서 전수 검색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4663440"/>
            <a:ext cx="32918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📊 13대 핵심 결핍 지표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응급의료·교통·난방·소멸위험 등 정밀 연동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4663440"/>
            <a:ext cx="3291840" cy="128016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🔊 Typecast AI TTS</a:t>
            </a:r>
          </a:p>
          <a:p>
            <a:pPr>
              <a:spcBef>
                <a:spcPts val="600"/>
              </a:spcBef>
              <a:defRPr sz="1100">
                <a:solidFill>
                  <a:srgbClr val="94A3B8"/>
                </a:solidFill>
              </a:defRPr>
            </a:pPr>
            <a:r>
              <a:t>발표 음성 실시간 합성 및 자막 싱크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01. BACKGROUND &amp;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지역 간 심화되는 인프라 불균형과 사각지대 문제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297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F4444"/>
                </a:solidFill>
              </a:defRPr>
            </a:pPr>
            <a:r>
              <a:t>🚨 응급의료 골든타임 결핍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수도권 3분 vs 소외지역 54분</a:t>
            </a:r>
            <a:br/>
            <a:r>
              <a:t>전국 18대 취약지구 내 중증 외상 및 응급 수술 가능 병원 부재로 인한 생명 직결 위협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383280" cy="4297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59E0B"/>
                </a:solidFill>
              </a:defRPr>
            </a:pPr>
            <a:r>
              <a:t>📉 지방소멸 고위험 가속화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평균 소멸위험지수 0.14</a:t>
            </a:r>
            <a:br/>
            <a:r>
              <a:t>청년층 유출과 고령화 심화, 분만 산부인과 0개 시군구 증가로 인구 절벽 직면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828800"/>
            <a:ext cx="3383280" cy="429768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AFF"/>
                </a:solidFill>
              </a:defRPr>
            </a:pPr>
            <a:r>
              <a:t>⚡ 필수 생활 에너지/교통 격차</a:t>
            </a:r>
          </a:p>
          <a:p>
            <a:pPr>
              <a:spcBef>
                <a:spcPts val="1600"/>
              </a:spcBef>
              <a:defRPr sz="1300">
                <a:solidFill>
                  <a:srgbClr val="1E293B"/>
                </a:solidFill>
              </a:defRPr>
            </a:pPr>
            <a:r>
              <a:t>도시가스 보급률 14.2% vs 91%</a:t>
            </a:r>
            <a:br/>
            <a:r>
              <a:t>버스 배차 110분 vs 수도권 9분, 대중교통 및 난방 인프라의 심각한 구조적 소외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02. CORE GOAL &amp;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데이터 기반의 직관적 Web GIS 진단 플랫폼 구축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🌐 전수 조사 &amp; 정밀 매핑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229개 시·군·구 및 18대 취약지구 전수 데이터베이스 구축</a:t>
            </a:r>
            <a:br/>
            <a:r>
              <a:t>초성·지명 자동완성 및 실시간 26km 권역 버퍼 투사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828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📊 13대 지표 통합 분석 패널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응급, 소방, 교육, 교통, 일자리, 소멸위험 등</a:t>
            </a:r>
            <a:br/>
            <a:r>
              <a:t>다차원 인프라 데이터를 한눈에 파악하는 직관적 진단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🛰️ 고해상도 위성 지도 &amp; UX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Esri 위성 지도 + 한글 지명 레이어 상시 탑재</a:t>
            </a:r>
            <a:br/>
            <a:r>
              <a:t>세련된 글래스모피즘 디자인 및 모바일 뷰 스위처 완벽 지원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4114800"/>
            <a:ext cx="521208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🔊 AI 음성 해설 &amp; 브리핑</a:t>
            </a:r>
          </a:p>
          <a:p>
            <a:pPr>
              <a:spcBef>
                <a:spcPts val="800"/>
              </a:spcBef>
              <a:defRPr sz="1200">
                <a:solidFill>
                  <a:srgbClr val="1E293B"/>
                </a:solidFill>
              </a:defRPr>
            </a:pPr>
            <a:r>
              <a:t>Typecast REST API 연동을 통한 브리핑 자동 음성 합성</a:t>
            </a:r>
            <a:br/>
            <a:r>
              <a:t>음성 재생 싱크 자막 및 원클릭 자동 시연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03. 13 INFRASTRUCTURE INDICATORS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국토 균형발전을 위한 13대 핵심 진단 지표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EF4444"/>
                </a:solidFill>
              </a:defRPr>
            </a:pPr>
            <a:r>
              <a:t>🏥 보건·안전 인프라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🚨 응급의료: 30km 권역외상·응급수술 가능 병원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🚒 소방/안전: 119 안전센터 7분 골든타임 도달률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🏠 복지/돌봄: 독거노인·취약계층 맞춤 돌봄 인력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182880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🚆 생활·기반 인프라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🚆 교통/철도: 광역철도·지하철 및 버스 배차간격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⚡ 에너지/난방: 도시가스(LNG) 배관 공급망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💧 상수도/물: 광역·지방 상수도 보급률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🛒 생활/상권: 대형마트·전통시장 종합 상권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80" y="1828800"/>
            <a:ext cx="3383280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🌱 성장·미래 인프라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📚 교육: 학령인구 추이 및 학교/도서관 인프라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🎭 문화/체육: 공연장·영화관·체육시설 보급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📡 통신/디지털: 5G 커버리지 및 통신 음영 해소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💼 일자리/산업: 산업단지 및 양질의 청년 일자리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🌲 환경/생태: 녹지율 및 환경 정비 지표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</a:defRPr>
            </a:pPr>
            <a:r>
              <a:t>📉 소멸위험: 실시간 인구소멸위험지수 산출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04.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경량화된 고성능 클라이언트 중심 Web GIS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146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GIS &amp; Visualization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Leaflet.js + MarkerCluster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초고속 인터랙티브 지도 렌더링, 핀 클러스터링으로 수백 개 마커 겹침 방지 및 26km/30km 동적 반경 버퍼 투사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828800"/>
            <a:ext cx="25146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Satellite BaseMap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Esri World Imagery + Labels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초고화질 위성 타일 베이스맵과 한국어 지명 라벨을 상시 가동하여 직관적인 지형·행정 식별 지원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828800"/>
            <a:ext cx="25146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Frontend &amp; UI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Vanilla JS + Glassmorphism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프레임워크 종속 없는 초경량 구동, 모던 글래스모피즘 디자인 및 반응형 뷰 스위처(모바일/태블릿) 탑재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828800"/>
            <a:ext cx="2514600" cy="4297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0EA5E9"/>
                </a:solidFill>
              </a:defRPr>
            </a:pPr>
            <a:r>
              <a:t>AI Voice &amp; Media</a:t>
            </a:r>
          </a:p>
          <a:p>
            <a:pPr>
              <a:spcBef>
                <a:spcPts val="600"/>
              </a:spcBef>
              <a:defRPr sz="1500" b="1">
                <a:solidFill>
                  <a:srgbClr val="1E293B"/>
                </a:solidFill>
              </a:defRPr>
            </a:pPr>
            <a:r>
              <a:t>Typecast REST API</a:t>
            </a:r>
          </a:p>
          <a:p>
            <a:pPr>
              <a:spcBef>
                <a:spcPts val="1200"/>
              </a:spcBef>
              <a:defRPr sz="1100">
                <a:solidFill>
                  <a:srgbClr val="64748B"/>
                </a:solidFill>
              </a:defRPr>
            </a:pPr>
            <a:r>
              <a:t>비동기 음성 합성 호출, Base64 바이너리 오디오 변환 및 실시간 싱크 자막 연동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05. AI VOICE &amp; NARRATION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Typecast AI TTS를 활용한 실시간 음성 브리핑 시스템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212080" cy="4297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07AFF"/>
                </a:solidFill>
              </a:defRPr>
            </a:pPr>
            <a:r>
              <a:t>🎙️ 발표 음성 브리핑 시스템 특징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1. 원클릭 발표 모달 : '📢 발표 듣기' 클릭 시 자동 팝업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2. AI 성우 모델 : ssfm-v30 최신 고음질 한국어 모델 연동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3. 실시간 자막(Caption) 싱크 : 음성 출력과 텍스트 동시 제공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4. 자동 시연(Demo) 지원 : 상단 바에서 인프라 브리핑 즉시 청취</a:t>
            </a:r>
          </a:p>
          <a:p>
            <a:pPr>
              <a:spcBef>
                <a:spcPts val="1200"/>
              </a:spcBef>
              <a:defRPr sz="1200">
                <a:solidFill>
                  <a:srgbClr val="1E293B"/>
                </a:solidFill>
              </a:defRPr>
            </a:pPr>
            <a:r>
              <a:t>5. 유연한 확장성 : 13대 지표별 맞춤 오디오 가이드 생성 가능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828800"/>
            <a:ext cx="5212080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📝 실제 발표 텍스트 (TTS 대본)</a:t>
            </a:r>
          </a:p>
          <a:p>
            <a:pPr>
              <a:spcBef>
                <a:spcPts val="1600"/>
              </a:spcBef>
              <a:defRPr sz="1300">
                <a:solidFill>
                  <a:srgbClr val="FFFFFF"/>
                </a:solidFill>
              </a:defRPr>
            </a:pPr>
            <a:r>
              <a:t>"안녕하세요. 이번 발표에서는 대한민국 인프라 소외지역 분석 지도의 주요 기능과 데이터 분석 결과를 소개합니다.</a:t>
            </a:r>
            <a:br/>
            <a:br/>
            <a:r>
              <a:t>• 전국 18대 인프라(에너지, 교통, 금융 등) 실시간 상황 시각화</a:t>
            </a:r>
            <a:br/>
            <a:r>
              <a:t>• 위성 고해상도 이미지와 행정구역 검색 기능 제공</a:t>
            </a:r>
            <a:br/>
            <a:r>
              <a:t>• 사용자 맞춤 레이어 토글 및 위험 영역 자동 표시"</a:t>
            </a:r>
          </a:p>
          <a:p>
            <a:pPr>
              <a:spcBef>
                <a:spcPts val="2000"/>
              </a:spcBef>
              <a:defRPr sz="1200" b="1">
                <a:solidFill>
                  <a:srgbClr val="10B981"/>
                </a:solidFill>
              </a:defRPr>
            </a:pPr>
            <a:r>
              <a:t>🔊 상태: 재생 중 자막 활성화 → 재생 완료 시 자동 닫힘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06. IMPACT &amp; FUTURE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E293B"/>
                </a:solidFill>
              </a:defRPr>
            </a:pPr>
            <a:r>
              <a:t>지역 소멸 대응 및 정책 의사결정 지원 플랫폼으로의 도약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🏛️ 정책 수립 데이터 근거 제공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지자체별 인프라 결핍도를 객관적 수치로 가시화하여 공공 예산 배분 및 인프라 우선 구축 지역 선정에 기여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33756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👥 대국민 정보 접근성 향상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복잡한 공공데이터를 지도와 AI 음성으로 쉽게 해설하여 소외지역 거주민과 연구자의 알 권리 보장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846320"/>
            <a:ext cx="10698480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007AFF"/>
                </a:solidFill>
              </a:defRPr>
            </a:pPr>
            <a:r>
              <a:t>🔮 향후 고도화 로드맵</a:t>
            </a:r>
          </a:p>
          <a:p>
            <a:pPr>
              <a:spcBef>
                <a:spcPts val="600"/>
              </a:spcBef>
              <a:defRPr sz="1200">
                <a:solidFill>
                  <a:srgbClr val="1E293B"/>
                </a:solidFill>
              </a:defRPr>
            </a:pPr>
            <a:r>
              <a:t>• 공공 API 실시간 자동 동기화 주기 단축</a:t>
            </a:r>
            <a:br/>
            <a:r>
              <a:t>• AI 기반 인구 감소 예측 시뮬레이션 모델 결합</a:t>
            </a:r>
            <a:br/>
            <a:r>
              <a:t>• 전국 의료/교통 복지 바우처 추천 기능 확장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감사합니다</a:t>
            </a:r>
          </a:p>
          <a:p>
            <a:pPr algn="ctr">
              <a:spcBef>
                <a:spcPts val="1600"/>
              </a:spcBef>
              <a:defRPr sz="2000">
                <a:solidFill>
                  <a:srgbClr val="0EA5E9"/>
                </a:solidFill>
              </a:defRPr>
            </a:pPr>
            <a:r>
              <a:t>대한민국 인프라 소외지역 실시간 정밀 분석 지도</a:t>
            </a:r>
          </a:p>
          <a:p>
            <a:pPr algn="ctr">
              <a:spcBef>
                <a:spcPts val="2000"/>
              </a:spcBef>
              <a:defRPr sz="1600">
                <a:solidFill>
                  <a:srgbClr val="94A3B8"/>
                </a:solidFill>
              </a:defRPr>
            </a:pPr>
            <a:r>
              <a:t>질의응답 (Q&amp;A)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